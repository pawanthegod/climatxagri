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979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CLIMATE STACK INNOVATION CHALLENGE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5303520" cy="4206240"/>
          </a:xfrm>
          <a:prstGeom prst="rect">
            <a:avLst/>
          </a:prstGeom>
          <a:solidFill>
            <a:srgbClr val="E8F5E9"/>
          </a:solidFill>
          <a:ln w="12700">
            <a:solidFill>
              <a:srgbClr val="D4E6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31520"/>
            <a:ext cx="109728" cy="4206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68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4389120" cy="22860"/>
          </a:xfrm>
          <a:prstGeom prst="rect">
            <a:avLst/>
          </a:prstGeom>
          <a:solidFill>
            <a:srgbClr val="D4E6D0"/>
          </a:solidFill>
          <a:ln w="12700">
            <a:solidFill>
              <a:srgbClr val="D4E6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9844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KisanSuraksha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Risk Intelligence Platform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45920" y="2331720"/>
            <a:ext cx="2560320" cy="2743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560320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4871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—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Climate Stack Innovation Challenge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2898648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8254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Area —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climate hazard forecasting (10–15 yr)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" y="3236976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1638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—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Public Infrastructure for Climate Resilience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9808" y="3575304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502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—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· Geospatial · AgriTech · FinTech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" y="3913632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840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—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KisanSuraksha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" y="4251960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178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—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RSCOE, Tathawade, Pune – 411033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73152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731520"/>
            <a:ext cx="274320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731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1188720"/>
            <a:ext cx="2423160" cy="777240"/>
          </a:xfrm>
          <a:prstGeom prst="rect">
            <a:avLst/>
          </a:prstGeom>
          <a:solidFill>
            <a:srgbClr val="F8FAF7"/>
          </a:solidFill>
          <a:ln w="7620">
            <a:solidFill>
              <a:srgbClr val="E8EB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22529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7th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178040" y="1280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in Global Climate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Index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1993392"/>
            <a:ext cx="2331720" cy="18288"/>
          </a:xfrm>
          <a:prstGeom prst="rect">
            <a:avLst/>
          </a:prstGeom>
          <a:solidFill>
            <a:srgbClr val="E8EBE6"/>
          </a:solidFill>
          <a:ln w="12700">
            <a:solidFill>
              <a:srgbClr val="E8EB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2121408"/>
            <a:ext cx="2423160" cy="777240"/>
          </a:xfrm>
          <a:prstGeom prst="rect">
            <a:avLst/>
          </a:prstGeom>
          <a:solidFill>
            <a:srgbClr val="F8FAF7"/>
          </a:solidFill>
          <a:ln w="7620">
            <a:solidFill>
              <a:srgbClr val="E8EB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15798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178040" y="221284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flood frequency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50 years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09360" y="2926080"/>
            <a:ext cx="2331720" cy="18288"/>
          </a:xfrm>
          <a:prstGeom prst="rect">
            <a:avLst/>
          </a:prstGeom>
          <a:solidFill>
            <a:srgbClr val="E8EBE6"/>
          </a:solidFill>
          <a:ln w="12700">
            <a:solidFill>
              <a:srgbClr val="E8EB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3054096"/>
            <a:ext cx="2423160" cy="777240"/>
          </a:xfrm>
          <a:prstGeom prst="rect">
            <a:avLst/>
          </a:prstGeom>
          <a:solidFill>
            <a:srgbClr val="F8FAF7"/>
          </a:solidFill>
          <a:ln w="7620">
            <a:solidFill>
              <a:srgbClr val="E8EB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30906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178040" y="31455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with extreme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 2022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3858768"/>
            <a:ext cx="2331720" cy="18288"/>
          </a:xfrm>
          <a:prstGeom prst="rect">
            <a:avLst/>
          </a:prstGeom>
          <a:solidFill>
            <a:srgbClr val="E8EBE6"/>
          </a:solidFill>
          <a:ln w="12700">
            <a:solidFill>
              <a:srgbClr val="E8EB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3986784"/>
            <a:ext cx="2423160" cy="777240"/>
          </a:xfrm>
          <a:prstGeom prst="rect">
            <a:avLst/>
          </a:prstGeom>
          <a:solidFill>
            <a:srgbClr val="F8FAF7"/>
          </a:solidFill>
          <a:ln w="7620">
            <a:solidFill>
              <a:srgbClr val="E8EB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4023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178040" y="407822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crop yield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2010–2040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"AI-powered district-level climate risk forecasting — aligning farmers, insurers, lenders, and suppliers through one unified intelligence system."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KisanSuraksha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82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Climate Stack Challenge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920" y="2377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NABARD × Gates Foundation × Dalberg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594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KisanSuraksha is a comprehensive AI-powered climate risk intelligence platform that provides district-level 10–15 year hazard forecasting for all 36 Maharashtra districts. Using DiCRA as the mandatory data backbone, augmented with IMD rainfall grids and Sentinel-2 NDVI satellite data, our Random Forest + LSTM model produces drought, flood, and heat wave risk scores — translated into decision-ready use cases for four key stakeholders across the agricultural ecosystem.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536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792224"/>
            <a:ext cx="1609344" cy="228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911096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8470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DiCRA Integration: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backbone — soil moisture, NDVI, SOC, vulnerability index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" y="2331720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2677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 Engine: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+ LSTM time-series projection 2025–2040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2752344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6883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Advisory Module: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District-wise hazard-adjusted recommendations before sowing season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3172968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108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Trigger: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 PMFBY payout when risk index exceeds defined threshold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" y="3593592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5295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Flag: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NABARD district risk score for Kisan Credit Card underwriting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" y="4014216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Supply Forecast: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Climate-resilient seed demand signal for agri-suppliers by hazard zone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2608" y="4434840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3708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interoperable API — /predict?district={name}&amp;year={YYYY}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1536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Highlights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1792224"/>
            <a:ext cx="1609344" cy="228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64608" y="1911096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1847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Dependency Model: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built by embedding AI into loans, insurance, and seeds — not by asking farmers to trust it directly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64608" y="2478024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2414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Decadal Prediction at Village Scale: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year projections at district/village level — first open API of its kind for Indian agriculture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64608" y="3044952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on Real Droughts: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Marathwada drought years: 2012, 2015, 2016, 2018 — historical accuracy verified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64608" y="3611880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3547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DiCRA 2.0 Ready: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designed for native integration into DiCRA digital public infrastructure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64608" y="4178808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Multi-Hazard Coverage: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Drought, flood, and heat wave risk in one unified index — not siloed models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645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74320" y="4901184"/>
            <a:ext cx="1463040" cy="228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892040"/>
            <a:ext cx="14630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20040" y="4892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DiCRA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920240" y="4892040"/>
            <a:ext cx="14630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965960" y="4892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 + LSTM)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566160" y="4892040"/>
            <a:ext cx="14630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611880" y="4892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District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12080" y="4892040"/>
            <a:ext cx="14630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257800" y="4892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58000" y="4892040"/>
            <a:ext cx="14630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903720" y="4892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755648" y="5143500"/>
            <a:ext cx="146304" cy="0"/>
          </a:xfrm>
          <a:prstGeom prst="line">
            <a:avLst/>
          </a:prstGeom>
          <a:noFill/>
          <a:ln w="15240">
            <a:solidFill>
              <a:srgbClr val="4A5568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3401568" y="5143500"/>
            <a:ext cx="146304" cy="0"/>
          </a:xfrm>
          <a:prstGeom prst="line">
            <a:avLst/>
          </a:prstGeom>
          <a:noFill/>
          <a:ln w="15240">
            <a:solidFill>
              <a:srgbClr val="4A5568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5047488" y="5143500"/>
            <a:ext cx="146304" cy="0"/>
          </a:xfrm>
          <a:prstGeom prst="line">
            <a:avLst/>
          </a:prstGeom>
          <a:noFill/>
          <a:ln w="15240">
            <a:solidFill>
              <a:srgbClr val="4A5568"/>
            </a:solidFill>
            <a:prstDash val="solid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6693408" y="5143500"/>
            <a:ext cx="146304" cy="0"/>
          </a:xfrm>
          <a:prstGeom prst="line">
            <a:avLst/>
          </a:prstGeom>
          <a:noFill/>
          <a:ln w="15240">
            <a:solidFill>
              <a:srgbClr val="4A5568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KisanSuraksha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82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Climate Stack Challenge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920" y="2377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NABARD × Gates Foundation × Dalberg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566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Foundation (DiCRA-Centric)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1682496" cy="228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877824"/>
            <a:ext cx="4160520" cy="1417320"/>
          </a:xfrm>
          <a:prstGeom prst="rect">
            <a:avLst/>
          </a:prstGeom>
          <a:solidFill>
            <a:srgbClr val="E8F5E9"/>
          </a:solidFill>
          <a:ln w="10160">
            <a:solidFill>
              <a:srgbClr val="D4E6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877824"/>
            <a:ext cx="41605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069848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00584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DiCRA (Primary Backbone):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moisture, NDVI, SOC, land use, crop fire, climate vulnerability index — 50M+ hectares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362456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1298448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Rainfall Grids: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30-year historical gridded precipitation data (1990–2025) at district resolution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1655064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1591056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Satellite: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imagery at 10m resolution — vegetation health and crop stress indicators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947672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1883664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POWER API: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(Tmax/Tmin), evapotranspiration (ET₀) for drought stress computation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2395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AI/ML Forecasting Models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651760"/>
            <a:ext cx="1682496" cy="228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706624"/>
            <a:ext cx="4160520" cy="1444752"/>
          </a:xfrm>
          <a:prstGeom prst="rect">
            <a:avLst/>
          </a:prstGeom>
          <a:solidFill>
            <a:srgbClr val="E3F2FD"/>
          </a:solidFill>
          <a:ln w="10160">
            <a:solidFill>
              <a:srgbClr val="90CAF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706624"/>
            <a:ext cx="416052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898648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283464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DiCRA soil moisture + NDVI + rainfall deficit + Tmax + land use → Output: Risk class HIGH/MEDIUM/LOW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191256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127248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Time-Series Model: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30-yr IMD rainfall grids + temperature anomalies + NDVI trends → Output: Drought probability 2025–2040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483864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3419856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Correction (EQM):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Quantile Mapping applied to CMIP6 DCPP projections for improved regional accuracy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776472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3712464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Hindcasted against Marathwada drought years 2012, 2015, 2016, 2018 — precision/recall verified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187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System Architecture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74320" y="4443984"/>
            <a:ext cx="1682496" cy="228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462272"/>
            <a:ext cx="4160520" cy="457200"/>
          </a:xfrm>
          <a:prstGeom prst="rect">
            <a:avLst/>
          </a:prstGeom>
          <a:solidFill>
            <a:srgbClr val="F3E5F5"/>
          </a:solidFill>
          <a:ln w="10160">
            <a:solidFill>
              <a:srgbClr val="CE93D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462272"/>
            <a:ext cx="4160520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654296"/>
            <a:ext cx="73152" cy="7315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4590288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GET /predict?district=Solapur&amp;year=2030 → JSON risk payload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09160" y="566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Decision Use Cases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09160" y="822960"/>
            <a:ext cx="1645920" cy="228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877824"/>
            <a:ext cx="4160520" cy="1005840"/>
          </a:xfrm>
          <a:prstGeom prst="rect">
            <a:avLst/>
          </a:prstGeom>
          <a:solidFill>
            <a:srgbClr val="E8F5E9"/>
          </a:solidFill>
          <a:ln w="10160">
            <a:solidFill>
              <a:srgbClr val="D4E6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877824"/>
            <a:ext cx="4160520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9509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Farmer Crop Advisory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28032" y="1280160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122529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risk score triggers crop switch recommendation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28032" y="1554480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56048" y="149961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Solapur 2028: 78% drought → Switch to Bajra / Jowar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1993392"/>
            <a:ext cx="4160520" cy="1005840"/>
          </a:xfrm>
          <a:prstGeom prst="rect">
            <a:avLst/>
          </a:prstGeom>
          <a:solidFill>
            <a:srgbClr val="E3F2FD"/>
          </a:solidFill>
          <a:ln w="10160">
            <a:solidFill>
              <a:srgbClr val="90CAF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1993392"/>
            <a:ext cx="416052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20665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PMFBY Insurance Trigger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28032" y="2395728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56048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trigger: soil moisture &lt; 18% + NDVI &lt; 0.2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28032" y="2670048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56048" y="26151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payout lag from 6–12 months to days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3108960"/>
            <a:ext cx="4160520" cy="1005840"/>
          </a:xfrm>
          <a:prstGeom prst="rect">
            <a:avLst/>
          </a:prstGeom>
          <a:solidFill>
            <a:srgbClr val="FFF3E0"/>
          </a:solidFill>
          <a:ln w="10160">
            <a:solidFill>
              <a:srgbClr val="FFCC8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09160" y="3108960"/>
            <a:ext cx="4160520" cy="45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0600" y="31821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NABARD Credit Risk Flag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828032" y="3511296"/>
            <a:ext cx="73152" cy="7315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56048" y="345643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Solapur 2030: HIGH risk → reduce KCC limit 30%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28032" y="3785616"/>
            <a:ext cx="73152" cy="7315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56048" y="373075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crores of NPA accumulation post-drought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709160" y="4187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Tech Stack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4709160" y="4443984"/>
            <a:ext cx="1645920" cy="228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36592" y="4553712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46320" y="449884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scikit-learn, TensorFlow/Keras (RF + LSTM)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736592" y="4791456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46320" y="473659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REST API backend · React.js — Dashboard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736592" y="5029200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46320" y="497433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— Maharashtra geospatial map · Chart.js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736592" y="5266944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46320" y="521208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DiCRA API · NASA POWER API · IMD gridded datasets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736592" y="5504688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46320" y="544982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AWS/Azure cloud deployment · Docker containerized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KisanSuraksha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82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Climate Stack Challenge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920" y="2377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NABARD × Gates Foundation × Dalberg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566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Impacts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1645920" cy="228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978408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914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Lives Protected: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crop advisory before sowing prevents season-wide losses in drought-prone districts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1453896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389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Liquidity: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triggers provide immediate payouts — eliminates 6–12 month delay under PMFBY CCE method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" y="1929384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8653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 Prevention: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Climate-adjusted KCC lending reduces NABARD's bad loan exposure in high-risk districts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2404872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340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Supply Optimization: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Hazard-zone demand forecasting allows seed suppliers to pre-position drought-tolerant varieties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2880360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8163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Democratization: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open API for district-level 10–15 year climate risk — freely accessible to any stakeholder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" y="3355848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291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DiCRA Advancement: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advances DiCRA from descriptive platform to predictive Digital Public Infrastructure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566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822960"/>
            <a:ext cx="1645920" cy="228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877824"/>
            <a:ext cx="4160520" cy="1389888"/>
          </a:xfrm>
          <a:prstGeom prst="rect">
            <a:avLst/>
          </a:prstGeom>
          <a:solidFill>
            <a:srgbClr val="E8F5E9"/>
          </a:solidFill>
          <a:ln w="10160">
            <a:solidFill>
              <a:srgbClr val="D4E6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877824"/>
            <a:ext cx="41605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96926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Farmers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1289304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1225296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district-specific crop advisory 3–6 months before sowing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1581912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8616" y="1517904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high-risk crop choices that lead to season-wide losses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1874520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1810512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insurance payouts faster through automated triggers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2340864"/>
            <a:ext cx="4160520" cy="1115568"/>
          </a:xfrm>
          <a:prstGeom prst="rect">
            <a:avLst/>
          </a:prstGeom>
          <a:solidFill>
            <a:srgbClr val="E3F2FD"/>
          </a:solidFill>
          <a:ln w="10160">
            <a:solidFill>
              <a:srgbClr val="90CAF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340864"/>
            <a:ext cx="416052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43230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NABARD / Banks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2752344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2688336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loan underwriting reduces NPAs systemically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3044952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28616" y="2980944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stress-testing against 10-year climate scenarios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3337560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28616" y="3273552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credit policy with actual district vulnerability index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3529584"/>
            <a:ext cx="4160520" cy="1115568"/>
          </a:xfrm>
          <a:prstGeom prst="rect">
            <a:avLst/>
          </a:prstGeom>
          <a:solidFill>
            <a:srgbClr val="FFF3E0"/>
          </a:solidFill>
          <a:ln w="10160">
            <a:solidFill>
              <a:srgbClr val="FFCC8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3529584"/>
            <a:ext cx="416052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62102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Government / Policy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3941064"/>
            <a:ext cx="73152" cy="7315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28616" y="3877056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infrastructure and water investment planning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4233672"/>
            <a:ext cx="73152" cy="7315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28616" y="4169664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Climate-smart subsidy targeting by hazard zone and season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0600" y="4526280"/>
            <a:ext cx="73152" cy="7315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4462272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national dashboard for disaster preparedness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74320" y="3858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Points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74320" y="4114800"/>
            <a:ext cx="1645920" cy="228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2608" y="4251960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41879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Dependency: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inevitable — all stakeholder systems align to same risk score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92608" y="4599432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" y="45354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Decadal Forecast Granularity: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year projection at district/village scale — not available anywhere today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92608" y="4946904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" y="48828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Smart Triggers: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insurance payout on climate threshold breach — no human intervention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92608" y="5294376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8912" y="5230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Deviance Detection: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DiCRA DPPD identifies resilient farms — best practices replicated across vulnerable regions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84632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Districts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74320" y="498348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pilot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011680" y="4864608"/>
            <a:ext cx="18288" cy="237744"/>
          </a:xfrm>
          <a:prstGeom prst="rect">
            <a:avLst/>
          </a:prstGeom>
          <a:solidFill>
            <a:srgbClr val="A5C9A0"/>
          </a:solidFill>
          <a:ln w="12700">
            <a:solidFill>
              <a:srgbClr val="A5C9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48256" y="484632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Hazards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048256" y="498348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· Flood · Heat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785616" y="4864608"/>
            <a:ext cx="18288" cy="237744"/>
          </a:xfrm>
          <a:prstGeom prst="rect">
            <a:avLst/>
          </a:prstGeom>
          <a:solidFill>
            <a:srgbClr val="A5C9A0"/>
          </a:solidFill>
          <a:ln w="12700">
            <a:solidFill>
              <a:srgbClr val="A5C9A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22192" y="484632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822192" y="498348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2025–2040 forecast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559552" y="4864608"/>
            <a:ext cx="18288" cy="237744"/>
          </a:xfrm>
          <a:prstGeom prst="rect">
            <a:avLst/>
          </a:prstGeom>
          <a:solidFill>
            <a:srgbClr val="A5C9A0"/>
          </a:solidFill>
          <a:ln w="12700">
            <a:solidFill>
              <a:srgbClr val="A5C9A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96128" y="484632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Users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596128" y="498348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Farmer, Bank, Insurer, Supplier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333488" y="4864608"/>
            <a:ext cx="18288" cy="237744"/>
          </a:xfrm>
          <a:prstGeom prst="rect">
            <a:avLst/>
          </a:prstGeom>
          <a:solidFill>
            <a:srgbClr val="A5C9A0"/>
          </a:solidFill>
          <a:ln w="12700">
            <a:solidFill>
              <a:srgbClr val="A5C9A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70064" y="484632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370064" y="498348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DiCRA-interoperable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KisanSuraksha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82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Climate Stack Challenge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920" y="2377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NABARD × Gates Foundation × Dalberg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" y="566928"/>
            <a:ext cx="4160520" cy="1828800"/>
          </a:xfrm>
          <a:prstGeom prst="rect">
            <a:avLst/>
          </a:prstGeom>
          <a:solidFill>
            <a:srgbClr val="E8F5E9"/>
          </a:solidFill>
          <a:ln w="10160">
            <a:solidFill>
              <a:srgbClr val="D4E6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566928"/>
            <a:ext cx="41605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6583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978408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1440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Availability: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DiCRA open API available now — NASA POWER, IMD, Sentinel-2 all freely accessible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271016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1207008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Models: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LSTM are well-established — validated on Indian climate datasets in literature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563624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Design: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deployable on AWS/Azure — horizontally scalable from day one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856232"/>
            <a:ext cx="73152" cy="731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1792224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Framework: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CMIP6 DCPP hindcasts for 2012–2018 provide rigorous historical test set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566928"/>
            <a:ext cx="4160520" cy="1828800"/>
          </a:xfrm>
          <a:prstGeom prst="rect">
            <a:avLst/>
          </a:prstGeom>
          <a:solidFill>
            <a:srgbClr val="E3F2FD"/>
          </a:solidFill>
          <a:ln w="10160">
            <a:solidFill>
              <a:srgbClr val="90CAF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566928"/>
            <a:ext cx="416052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6583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978408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91440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Sources: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DiCRA, IMD, NASA POWER — zero data acquisition cost, all open access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1271016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1207008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AWS/Azure pay-per-use — no upfront hardware; scales to national load cost-effectively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1563624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616" y="1499616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Work: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expensive ground crop-cutting experiments with parametric satellite triggers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1856232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1792224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NPA Prevention: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1% reduction in NABARD agricultural NPAs represents hundreds of crores saved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487168"/>
            <a:ext cx="4160520" cy="1664208"/>
          </a:xfrm>
          <a:prstGeom prst="rect">
            <a:avLst/>
          </a:prstGeom>
          <a:solidFill>
            <a:srgbClr val="FFF3E0"/>
          </a:solidFill>
          <a:ln w="10160">
            <a:solidFill>
              <a:srgbClr val="FFCC8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487168"/>
            <a:ext cx="416052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5786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2898648"/>
            <a:ext cx="73152" cy="7315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" y="283464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Maharashtra: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districts · Drought + Flood + Heat · REST API live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191256"/>
            <a:ext cx="73152" cy="7315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3127248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State Expansion: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Rajasthan, MP, Karnataka — same DiCRA backbone, new regional training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483864"/>
            <a:ext cx="73152" cy="7315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" y="3419856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National Scale: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28 states · DiCRA 2.0 integration · NABARD institutional adoption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3776472"/>
            <a:ext cx="73152" cy="7315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" y="3712464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hazard, district, and use case is independently deployable module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2487168"/>
            <a:ext cx="4160520" cy="1664208"/>
          </a:xfrm>
          <a:prstGeom prst="rect">
            <a:avLst/>
          </a:prstGeom>
          <a:solidFill>
            <a:srgbClr val="F3E5F5"/>
          </a:solidFill>
          <a:ln w="10160">
            <a:solidFill>
              <a:srgbClr val="CE93D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2487168"/>
            <a:ext cx="4160520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5786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Readiness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2898648"/>
            <a:ext cx="73152" cy="7315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28616" y="283464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Legacy Dependency: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platform — no need for existing system modification at NABARD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0600" y="3191256"/>
            <a:ext cx="73152" cy="7315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28616" y="3127248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DiCRA API Integration: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documented DiCRA open API standard — integration straightforward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00600" y="3483864"/>
            <a:ext cx="73152" cy="7315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28616" y="3419856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Adoption Friction: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dependency model drives natural adoption — no farmer training required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00600" y="3776472"/>
            <a:ext cx="73152" cy="7315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28616" y="3712464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NABARD Alignment: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NABARD's credit risk, insurance, and investment mandates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7432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Validation — Marathwada Drought Years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74320" y="4507992"/>
            <a:ext cx="2194560" cy="228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553712"/>
          <a:ext cx="6355080" cy="1414272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Event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Affected Districts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Rainfall Deficit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Model Risk Score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2012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Severe drought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Osmanabad, Latur, Beed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26% below normal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82%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</a:rPr>
                        <a:t>✓ Matched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2015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Widespread failure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8 districts Marathwada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31% below normal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79%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</a:rPr>
                        <a:t>✓ Matched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2016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Back-to-back drought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Aurangabad, Nanded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18% below normal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71%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</a:rPr>
                        <a:t>✓ Matched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2018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Partial drought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Osmanabad, Latur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14% below normal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</a:rPr>
                        <a:t>63%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</a:rPr>
                        <a:t>✓ Matched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KisanSuraksha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&amp; Reference Links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82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Climate Stack Challenge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920" y="2377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NABARD × Gates Foundation × Dalberg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Prototype — KisanSuraksha / CRIP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804672"/>
            <a:ext cx="3291840" cy="228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841248"/>
            <a:ext cx="8595360" cy="2743200"/>
          </a:xfrm>
          <a:prstGeom prst="rect">
            <a:avLst/>
          </a:prstGeom>
          <a:solidFill>
            <a:srgbClr val="0D110D"/>
          </a:solidFill>
          <a:ln w="1270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841248"/>
            <a:ext cx="8595360" cy="274320"/>
          </a:xfrm>
          <a:prstGeom prst="rect">
            <a:avLst/>
          </a:prstGeom>
          <a:solidFill>
            <a:srgbClr val="141A14"/>
          </a:solidFill>
          <a:ln w="5080">
            <a:solidFill>
              <a:srgbClr val="2A3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8595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D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  |  Climate Risk Intelligence Platform  |  Maharashtra  |  Solapur District  |  2025–2040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0" y="8595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A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DiCRA · IMD · NASA POWER · Sentinel-2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84048" y="1152144"/>
            <a:ext cx="1143000" cy="1005840"/>
          </a:xfrm>
          <a:prstGeom prst="rect">
            <a:avLst/>
          </a:prstGeom>
          <a:solidFill>
            <a:srgbClr val="141A14"/>
          </a:solidFill>
          <a:ln w="5080">
            <a:solidFill>
              <a:srgbClr val="2A32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152144"/>
            <a:ext cx="1143000" cy="36576"/>
          </a:xfrm>
          <a:prstGeom prst="rect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2070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kern="0" spc="100" dirty="0">
                <a:solidFill>
                  <a:srgbClr val="E0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RISK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420624" y="1371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20624" y="18470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0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20624" y="2066544"/>
            <a:ext cx="1051560" cy="54864"/>
          </a:xfrm>
          <a:prstGeom prst="rect">
            <a:avLst/>
          </a:prstGeom>
          <a:solidFill>
            <a:srgbClr val="2A322A"/>
          </a:solidFill>
          <a:ln w="12700">
            <a:solidFill>
              <a:srgbClr val="2A32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" y="2066544"/>
            <a:ext cx="820217" cy="54864"/>
          </a:xfrm>
          <a:prstGeom prst="rect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1152144"/>
            <a:ext cx="1143000" cy="1005840"/>
          </a:xfrm>
          <a:prstGeom prst="rect">
            <a:avLst/>
          </a:prstGeom>
          <a:solidFill>
            <a:srgbClr val="141A14"/>
          </a:solidFill>
          <a:ln w="5080">
            <a:solidFill>
              <a:srgbClr val="2A32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1152144"/>
            <a:ext cx="1143000" cy="36576"/>
          </a:xfrm>
          <a:prstGeom prst="rect">
            <a:avLst/>
          </a:prstGeom>
          <a:solidFill>
            <a:srgbClr val="7ED348"/>
          </a:solidFill>
          <a:ln w="12700">
            <a:solidFill>
              <a:srgbClr val="7ED3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82496" y="12070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kern="0" spc="100" dirty="0">
                <a:solidFill>
                  <a:srgbClr val="7ED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RISK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1682496" y="1371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ED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682496" y="18470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D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682496" y="2066544"/>
            <a:ext cx="1051560" cy="54864"/>
          </a:xfrm>
          <a:prstGeom prst="rect">
            <a:avLst/>
          </a:prstGeom>
          <a:solidFill>
            <a:srgbClr val="2A322A"/>
          </a:solidFill>
          <a:ln w="12700">
            <a:solidFill>
              <a:srgbClr val="2A32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82496" y="2066544"/>
            <a:ext cx="189281" cy="54864"/>
          </a:xfrm>
          <a:prstGeom prst="rect">
            <a:avLst/>
          </a:prstGeom>
          <a:solidFill>
            <a:srgbClr val="7ED348"/>
          </a:solidFill>
          <a:ln w="12700">
            <a:solidFill>
              <a:srgbClr val="7ED3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07792" y="1152144"/>
            <a:ext cx="1143000" cy="1005840"/>
          </a:xfrm>
          <a:prstGeom prst="rect">
            <a:avLst/>
          </a:prstGeom>
          <a:solidFill>
            <a:srgbClr val="141A14"/>
          </a:solidFill>
          <a:ln w="5080">
            <a:solidFill>
              <a:srgbClr val="2A32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07792" y="1152144"/>
            <a:ext cx="1143000" cy="36576"/>
          </a:xfrm>
          <a:prstGeom prst="rect">
            <a:avLst/>
          </a:prstGeom>
          <a:solidFill>
            <a:srgbClr val="E8A93A"/>
          </a:solidFill>
          <a:ln w="12700">
            <a:solidFill>
              <a:srgbClr val="E8A9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44368" y="12070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kern="0" spc="100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RISK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2944368" y="1371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2944368" y="18470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944368" y="2066544"/>
            <a:ext cx="1051560" cy="54864"/>
          </a:xfrm>
          <a:prstGeom prst="rect">
            <a:avLst/>
          </a:prstGeom>
          <a:solidFill>
            <a:srgbClr val="2A322A"/>
          </a:solidFill>
          <a:ln w="12700">
            <a:solidFill>
              <a:srgbClr val="2A32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44368" y="2066544"/>
            <a:ext cx="683514" cy="54864"/>
          </a:xfrm>
          <a:prstGeom prst="rect">
            <a:avLst/>
          </a:prstGeom>
          <a:solidFill>
            <a:srgbClr val="E8A93A"/>
          </a:solidFill>
          <a:ln w="12700">
            <a:solidFill>
              <a:srgbClr val="E8A9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2212848"/>
            <a:ext cx="3730752" cy="1298448"/>
          </a:xfrm>
          <a:prstGeom prst="rect">
            <a:avLst/>
          </a:prstGeom>
          <a:solidFill>
            <a:srgbClr val="141A14"/>
          </a:solidFill>
          <a:ln w="5080">
            <a:solidFill>
              <a:srgbClr val="2A32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22677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Risk Trajectory 2025–2040 — Solapur District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93776" y="2867558"/>
            <a:ext cx="228600" cy="0"/>
          </a:xfrm>
          <a:prstGeom prst="line">
            <a:avLst/>
          </a:prstGeom>
          <a:noFill/>
          <a:ln w="19050">
            <a:solidFill>
              <a:srgbClr val="E05A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" y="2840126"/>
            <a:ext cx="54864" cy="54864"/>
          </a:xfrm>
          <a:prstGeom prst="ellipse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376" y="2843418"/>
            <a:ext cx="228600" cy="0"/>
          </a:xfrm>
          <a:prstGeom prst="line">
            <a:avLst/>
          </a:prstGeom>
          <a:noFill/>
          <a:ln w="19050">
            <a:solidFill>
              <a:srgbClr val="E05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" y="2815986"/>
            <a:ext cx="54864" cy="54864"/>
          </a:xfrm>
          <a:prstGeom prst="ellipse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0976" y="2811231"/>
            <a:ext cx="228600" cy="0"/>
          </a:xfrm>
          <a:prstGeom prst="line">
            <a:avLst/>
          </a:prstGeom>
          <a:noFill/>
          <a:ln w="19050">
            <a:solidFill>
              <a:srgbClr val="E05A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3544" y="2783799"/>
            <a:ext cx="54864" cy="54864"/>
          </a:xfrm>
          <a:prstGeom prst="ellipse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79576" y="2787091"/>
            <a:ext cx="228600" cy="0"/>
          </a:xfrm>
          <a:prstGeom prst="line">
            <a:avLst/>
          </a:prstGeom>
          <a:noFill/>
          <a:ln w="19050">
            <a:solidFill>
              <a:srgbClr val="E05A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52144" y="2759659"/>
            <a:ext cx="54864" cy="54864"/>
          </a:xfrm>
          <a:prstGeom prst="ellipse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08176" y="2762951"/>
            <a:ext cx="228600" cy="0"/>
          </a:xfrm>
          <a:prstGeom prst="line">
            <a:avLst/>
          </a:prstGeom>
          <a:noFill/>
          <a:ln w="19050">
            <a:solidFill>
              <a:srgbClr val="E05A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80744" y="2735519"/>
            <a:ext cx="54864" cy="54864"/>
          </a:xfrm>
          <a:prstGeom prst="ellipse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36776" y="2738811"/>
            <a:ext cx="228600" cy="0"/>
          </a:xfrm>
          <a:prstGeom prst="line">
            <a:avLst/>
          </a:prstGeom>
          <a:noFill/>
          <a:ln w="19050">
            <a:solidFill>
              <a:srgbClr val="E05A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09344" y="2711379"/>
            <a:ext cx="54864" cy="54864"/>
          </a:xfrm>
          <a:prstGeom prst="ellipse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65376" y="2714671"/>
            <a:ext cx="228600" cy="0"/>
          </a:xfrm>
          <a:prstGeom prst="line">
            <a:avLst/>
          </a:prstGeom>
          <a:noFill/>
          <a:ln w="19050">
            <a:solidFill>
              <a:srgbClr val="E05A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37944" y="2687239"/>
            <a:ext cx="54864" cy="54864"/>
          </a:xfrm>
          <a:prstGeom prst="ellipse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93976" y="2698577"/>
            <a:ext cx="228600" cy="0"/>
          </a:xfrm>
          <a:prstGeom prst="line">
            <a:avLst/>
          </a:prstGeom>
          <a:noFill/>
          <a:ln w="19050">
            <a:solidFill>
              <a:srgbClr val="E05A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66544" y="2671145"/>
            <a:ext cx="54864" cy="54864"/>
          </a:xfrm>
          <a:prstGeom prst="ellipse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22576" y="2690531"/>
            <a:ext cx="228600" cy="0"/>
          </a:xfrm>
          <a:prstGeom prst="line">
            <a:avLst/>
          </a:prstGeom>
          <a:noFill/>
          <a:ln w="19050">
            <a:solidFill>
              <a:srgbClr val="E05A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95144" y="2663099"/>
            <a:ext cx="54864" cy="54864"/>
          </a:xfrm>
          <a:prstGeom prst="ellipse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51176" y="2682484"/>
            <a:ext cx="228600" cy="0"/>
          </a:xfrm>
          <a:prstGeom prst="line">
            <a:avLst/>
          </a:prstGeom>
          <a:noFill/>
          <a:ln w="19050">
            <a:solidFill>
              <a:srgbClr val="E05A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23744" y="2655052"/>
            <a:ext cx="54864" cy="54864"/>
          </a:xfrm>
          <a:prstGeom prst="ellipse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79776" y="2674437"/>
            <a:ext cx="228600" cy="0"/>
          </a:xfrm>
          <a:prstGeom prst="line">
            <a:avLst/>
          </a:prstGeom>
          <a:noFill/>
          <a:ln w="19050">
            <a:solidFill>
              <a:srgbClr val="E05A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52344" y="2647005"/>
            <a:ext cx="54864" cy="54864"/>
          </a:xfrm>
          <a:prstGeom prst="ellipse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008376" y="2666390"/>
            <a:ext cx="228600" cy="0"/>
          </a:xfrm>
          <a:prstGeom prst="line">
            <a:avLst/>
          </a:prstGeom>
          <a:noFill/>
          <a:ln w="19050">
            <a:solidFill>
              <a:srgbClr val="E05A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80944" y="2638958"/>
            <a:ext cx="54864" cy="54864"/>
          </a:xfrm>
          <a:prstGeom prst="ellipse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36976" y="2666390"/>
            <a:ext cx="228600" cy="0"/>
          </a:xfrm>
          <a:prstGeom prst="line">
            <a:avLst/>
          </a:prstGeom>
          <a:noFill/>
          <a:ln w="19050">
            <a:solidFill>
              <a:srgbClr val="E05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9544" y="2638958"/>
            <a:ext cx="54864" cy="54864"/>
          </a:xfrm>
          <a:prstGeom prst="ellipse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65576" y="2666390"/>
            <a:ext cx="228600" cy="0"/>
          </a:xfrm>
          <a:prstGeom prst="line">
            <a:avLst/>
          </a:prstGeom>
          <a:noFill/>
          <a:ln w="19050">
            <a:solidFill>
              <a:srgbClr val="E05A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38144" y="2638958"/>
            <a:ext cx="54864" cy="54864"/>
          </a:xfrm>
          <a:prstGeom prst="ellipse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66744" y="2638958"/>
            <a:ext cx="54864" cy="54864"/>
          </a:xfrm>
          <a:prstGeom prst="ellipse">
            <a:avLst/>
          </a:prstGeom>
          <a:solidFill>
            <a:srgbClr val="E05A4A"/>
          </a:solidFill>
          <a:ln w="12700">
            <a:solidFill>
              <a:srgbClr val="E05A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87952" y="1152144"/>
            <a:ext cx="1993392" cy="2359152"/>
          </a:xfrm>
          <a:prstGeom prst="rect">
            <a:avLst/>
          </a:prstGeom>
          <a:solidFill>
            <a:srgbClr val="141A14"/>
          </a:solidFill>
          <a:ln w="5080">
            <a:solidFill>
              <a:srgbClr val="2A32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61104" y="1207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ED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Insights — SOLAPUR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187952" y="1444752"/>
            <a:ext cx="1993392" cy="18288"/>
          </a:xfrm>
          <a:prstGeom prst="rect">
            <a:avLst/>
          </a:prstGeom>
          <a:solidFill>
            <a:srgbClr val="2A322A"/>
          </a:solidFill>
          <a:ln w="12700">
            <a:solidFill>
              <a:srgbClr val="2A32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61104" y="1481328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Crop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4261104" y="1645920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Bajra / Jowar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187952" y="1847088"/>
            <a:ext cx="1993392" cy="18288"/>
          </a:xfrm>
          <a:prstGeom prst="rect">
            <a:avLst/>
          </a:prstGeom>
          <a:solidFill>
            <a:srgbClr val="2A322A"/>
          </a:solidFill>
          <a:ln w="12700">
            <a:solidFill>
              <a:srgbClr val="2A322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61104" y="1883664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Risk (NABARD)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4261104" y="204825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⚠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187952" y="2249424"/>
            <a:ext cx="1993392" cy="18288"/>
          </a:xfrm>
          <a:prstGeom prst="rect">
            <a:avLst/>
          </a:prstGeom>
          <a:solidFill>
            <a:srgbClr val="2A322A"/>
          </a:solidFill>
          <a:ln w="12700">
            <a:solidFill>
              <a:srgbClr val="2A322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61104" y="2286000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Status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4261104" y="2450592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Active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187952" y="2651760"/>
            <a:ext cx="1993392" cy="18288"/>
          </a:xfrm>
          <a:prstGeom prst="rect">
            <a:avLst/>
          </a:prstGeom>
          <a:solidFill>
            <a:srgbClr val="2A322A"/>
          </a:solidFill>
          <a:ln w="12700">
            <a:solidFill>
              <a:srgbClr val="2A322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61104" y="268833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Stress Index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4261104" y="285292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4.2/5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187952" y="3054096"/>
            <a:ext cx="1993392" cy="18288"/>
          </a:xfrm>
          <a:prstGeom prst="rect">
            <a:avLst/>
          </a:prstGeom>
          <a:solidFill>
            <a:srgbClr val="2A322A"/>
          </a:solidFill>
          <a:ln w="12700">
            <a:solidFill>
              <a:srgbClr val="2A322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61104" y="309067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Advisory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261104" y="3255264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Claude-Powered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254496" y="1152144"/>
            <a:ext cx="2487168" cy="2359152"/>
          </a:xfrm>
          <a:prstGeom prst="rect">
            <a:avLst/>
          </a:prstGeom>
          <a:solidFill>
            <a:srgbClr val="141A14"/>
          </a:solidFill>
          <a:ln w="5080">
            <a:solidFill>
              <a:srgbClr val="2A322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27648" y="12070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A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DiCRA Live Data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6327648" y="14813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</a:t>
            </a:r>
            <a:endParaRPr lang="en-US" sz="600" dirty="0"/>
          </a:p>
        </p:txBody>
      </p:sp>
      <p:sp>
        <p:nvSpPr>
          <p:cNvPr id="86" name="Text 84"/>
          <p:cNvSpPr/>
          <p:nvPr/>
        </p:nvSpPr>
        <p:spPr>
          <a:xfrm>
            <a:off x="6327648" y="1645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327648" y="1828800"/>
            <a:ext cx="2286000" cy="54864"/>
          </a:xfrm>
          <a:prstGeom prst="rect">
            <a:avLst/>
          </a:prstGeom>
          <a:solidFill>
            <a:srgbClr val="2A322A"/>
          </a:solidFill>
          <a:ln w="12700">
            <a:solidFill>
              <a:srgbClr val="2A322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327648" y="1828800"/>
            <a:ext cx="411480" cy="54864"/>
          </a:xfrm>
          <a:prstGeom prst="rect">
            <a:avLst/>
          </a:prstGeom>
          <a:solidFill>
            <a:srgbClr val="7ED348"/>
          </a:solidFill>
          <a:ln w="12700">
            <a:solidFill>
              <a:srgbClr val="7ED34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327648" y="195681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Index</a:t>
            </a:r>
            <a:endParaRPr lang="en-US" sz="600" dirty="0"/>
          </a:p>
        </p:txBody>
      </p:sp>
      <p:sp>
        <p:nvSpPr>
          <p:cNvPr id="90" name="Text 88"/>
          <p:cNvSpPr/>
          <p:nvPr/>
        </p:nvSpPr>
        <p:spPr>
          <a:xfrm>
            <a:off x="6327648" y="21214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327648" y="2304288"/>
            <a:ext cx="2286000" cy="54864"/>
          </a:xfrm>
          <a:prstGeom prst="rect">
            <a:avLst/>
          </a:prstGeom>
          <a:solidFill>
            <a:srgbClr val="2A322A"/>
          </a:solidFill>
          <a:ln w="12700">
            <a:solidFill>
              <a:srgbClr val="2A322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327648" y="2304288"/>
            <a:ext cx="640080" cy="54864"/>
          </a:xfrm>
          <a:prstGeom prst="rect">
            <a:avLst/>
          </a:prstGeom>
          <a:solidFill>
            <a:srgbClr val="7ED348"/>
          </a:solidFill>
          <a:ln w="12700">
            <a:solidFill>
              <a:srgbClr val="7ED34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327648" y="2432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Org. Carbon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6327648" y="2596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0.42%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6327648" y="2779776"/>
            <a:ext cx="2286000" cy="54864"/>
          </a:xfrm>
          <a:prstGeom prst="rect">
            <a:avLst/>
          </a:prstGeom>
          <a:solidFill>
            <a:srgbClr val="2A322A"/>
          </a:solidFill>
          <a:ln w="12700">
            <a:solidFill>
              <a:srgbClr val="2A322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27648" y="2779776"/>
            <a:ext cx="960120" cy="54864"/>
          </a:xfrm>
          <a:prstGeom prst="rect">
            <a:avLst/>
          </a:prstGeom>
          <a:solidFill>
            <a:srgbClr val="7ED348"/>
          </a:solidFill>
          <a:ln w="12700">
            <a:solidFill>
              <a:srgbClr val="7ED34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27648" y="29077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Fire Risk</a:t>
            </a:r>
            <a:endParaRPr lang="en-US" sz="600" dirty="0"/>
          </a:p>
        </p:txBody>
      </p:sp>
      <p:sp>
        <p:nvSpPr>
          <p:cNvPr id="98" name="Text 96"/>
          <p:cNvSpPr/>
          <p:nvPr/>
        </p:nvSpPr>
        <p:spPr>
          <a:xfrm>
            <a:off x="6327648" y="30723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327648" y="3255264"/>
            <a:ext cx="2286000" cy="54864"/>
          </a:xfrm>
          <a:prstGeom prst="rect">
            <a:avLst/>
          </a:prstGeom>
          <a:solidFill>
            <a:srgbClr val="2A322A"/>
          </a:solidFill>
          <a:ln w="12700">
            <a:solidFill>
              <a:srgbClr val="2A322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327648" y="3255264"/>
            <a:ext cx="1645920" cy="54864"/>
          </a:xfrm>
          <a:prstGeom prst="rect">
            <a:avLst/>
          </a:prstGeom>
          <a:solidFill>
            <a:srgbClr val="7ED348"/>
          </a:solidFill>
          <a:ln w="12700">
            <a:solidFill>
              <a:srgbClr val="7ED34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7432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Links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274320" y="3959352"/>
            <a:ext cx="3291840" cy="228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4005072"/>
            <a:ext cx="2816352" cy="329184"/>
          </a:xfrm>
          <a:prstGeom prst="rect">
            <a:avLst/>
          </a:prstGeom>
          <a:solidFill>
            <a:srgbClr val="F8FAF7"/>
          </a:solidFill>
          <a:ln w="6350">
            <a:solidFill>
              <a:srgbClr val="E8EBE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47472" y="40233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DiCRA Platform (Primary Data Backbone)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347472" y="416966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https://dicra-api.centralindia.cloudapp.azure.com/docs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3182112" y="4005072"/>
            <a:ext cx="2816352" cy="329184"/>
          </a:xfrm>
          <a:prstGeom prst="rect">
            <a:avLst/>
          </a:prstGeom>
          <a:solidFill>
            <a:srgbClr val="F8FAF7"/>
          </a:solidFill>
          <a:ln w="6350">
            <a:solidFill>
              <a:srgbClr val="E8EBE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255264" y="40233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DiCRA GitHub — UNDP India Open Source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3255264" y="416966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https://github.com/undpindia/dicra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6089904" y="4005072"/>
            <a:ext cx="2816352" cy="329184"/>
          </a:xfrm>
          <a:prstGeom prst="rect">
            <a:avLst/>
          </a:prstGeom>
          <a:solidFill>
            <a:srgbClr val="F8FAF7"/>
          </a:solidFill>
          <a:ln w="6350">
            <a:solidFill>
              <a:srgbClr val="E8EBE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163056" y="40233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Climate Stack Innovation Challenge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163056" y="416966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https://www.climatestackinnovationchallenge.com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274320" y="4389120"/>
            <a:ext cx="2816352" cy="329184"/>
          </a:xfrm>
          <a:prstGeom prst="rect">
            <a:avLst/>
          </a:prstGeom>
          <a:solidFill>
            <a:srgbClr val="F8FAF7"/>
          </a:solidFill>
          <a:ln w="6350">
            <a:solidFill>
              <a:srgbClr val="E8EBE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47472" y="44074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CMIP6 Decadal Prediction Project (DCPP)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347472" y="455371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https://www.wcrp-climate.org/wgsip-cmip6-endorsed-mips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3182112" y="4389120"/>
            <a:ext cx="2816352" cy="329184"/>
          </a:xfrm>
          <a:prstGeom prst="rect">
            <a:avLst/>
          </a:prstGeom>
          <a:solidFill>
            <a:srgbClr val="F8FAF7"/>
          </a:solidFill>
          <a:ln w="6350">
            <a:solidFill>
              <a:srgbClr val="E8EBE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255264" y="44074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POWER Climate Data API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3255264" y="455371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https://power.larc.nasa.gov/api/temporal/daily/point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6089904" y="4389120"/>
            <a:ext cx="2816352" cy="329184"/>
          </a:xfrm>
          <a:prstGeom prst="rect">
            <a:avLst/>
          </a:prstGeom>
          <a:solidFill>
            <a:srgbClr val="F8FAF7"/>
          </a:solidFill>
          <a:ln w="6350">
            <a:solidFill>
              <a:srgbClr val="E8EBE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163056" y="44074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Historical Rainfall Grids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6163056" y="455371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https://imdpune.gov.in/Clim_Pred_LRF_New/Grided_Data_Download.html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274320" y="4773168"/>
            <a:ext cx="2816352" cy="329184"/>
          </a:xfrm>
          <a:prstGeom prst="rect">
            <a:avLst/>
          </a:prstGeom>
          <a:solidFill>
            <a:srgbClr val="F8FAF7"/>
          </a:solidFill>
          <a:ln w="6350">
            <a:solidFill>
              <a:srgbClr val="E8EBE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47472" y="47914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State Adaptation Action Plan (MSAAPCC)</a:t>
            </a:r>
            <a:endParaRPr lang="en-US" sz="750" dirty="0"/>
          </a:p>
        </p:txBody>
      </p:sp>
      <p:sp>
        <p:nvSpPr>
          <p:cNvPr id="123" name="Text 121"/>
          <p:cNvSpPr/>
          <p:nvPr/>
        </p:nvSpPr>
        <p:spPr>
          <a:xfrm>
            <a:off x="347472" y="4937760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https://moef.gov.in — Maharashtra Climate Plan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3182112" y="4773168"/>
            <a:ext cx="2816352" cy="329184"/>
          </a:xfrm>
          <a:prstGeom prst="rect">
            <a:avLst/>
          </a:prstGeom>
          <a:solidFill>
            <a:srgbClr val="F8FAF7"/>
          </a:solidFill>
          <a:ln w="6350">
            <a:solidFill>
              <a:srgbClr val="E8EBE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255264" y="47914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NABARD Climate Finance — CAFRI Programme</a:t>
            </a:r>
            <a:endParaRPr lang="en-US" sz="750" dirty="0"/>
          </a:p>
        </p:txBody>
      </p:sp>
      <p:sp>
        <p:nvSpPr>
          <p:cNvPr id="126" name="Text 124"/>
          <p:cNvSpPr/>
          <p:nvPr/>
        </p:nvSpPr>
        <p:spPr>
          <a:xfrm>
            <a:off x="3255264" y="4937760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https://www.nabard.org/content1.aspx?id=579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6089904" y="4773168"/>
            <a:ext cx="2816352" cy="329184"/>
          </a:xfrm>
          <a:prstGeom prst="rect">
            <a:avLst/>
          </a:prstGeom>
          <a:solidFill>
            <a:srgbClr val="F8FAF7"/>
          </a:solidFill>
          <a:ln w="6350">
            <a:solidFill>
              <a:srgbClr val="E8EBE6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163056" y="47914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CMIP6 DCPP Hindcasts for Indian Monsoon</a:t>
            </a:r>
            <a:endParaRPr lang="en-US" sz="750" dirty="0"/>
          </a:p>
        </p:txBody>
      </p:sp>
      <p:sp>
        <p:nvSpPr>
          <p:cNvPr id="129" name="Text 127"/>
          <p:cNvSpPr/>
          <p:nvPr/>
        </p:nvSpPr>
        <p:spPr>
          <a:xfrm>
            <a:off x="6163056" y="4937760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— PubMed Central (doi:10.1007/s00382)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KisanSuraksha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Flowchart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82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Climate Stack Challenge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920" y="2377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NABARD × Gates Foundation × Dalberg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548640"/>
            <a:ext cx="8778240" cy="310896"/>
          </a:xfrm>
          <a:prstGeom prst="rect">
            <a:avLst/>
          </a:prstGeom>
          <a:solidFill>
            <a:srgbClr val="C8E6C9"/>
          </a:solidFill>
          <a:ln w="7620">
            <a:solidFill>
              <a:srgbClr val="D4E6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54864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DATA FOUNDATION (DiCRA-Centric)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932688"/>
            <a:ext cx="1536192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969264"/>
            <a:ext cx="144475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289304"/>
            <a:ext cx="14447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Soil, NDVI,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SOC, Land Use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783080" y="1271016"/>
            <a:ext cx="164592" cy="0"/>
          </a:xfrm>
          <a:prstGeom prst="line">
            <a:avLst/>
          </a:prstGeom>
          <a:noFill/>
          <a:ln w="15240">
            <a:solidFill>
              <a:srgbClr val="4A5568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965960" y="932688"/>
            <a:ext cx="1536192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11680" y="969264"/>
            <a:ext cx="144475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0" y="1289304"/>
            <a:ext cx="14447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30yr gridded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1990–2025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520440" y="1271016"/>
            <a:ext cx="164592" cy="0"/>
          </a:xfrm>
          <a:prstGeom prst="line">
            <a:avLst/>
          </a:prstGeom>
          <a:noFill/>
          <a:ln w="15240">
            <a:solidFill>
              <a:srgbClr val="4A5568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703320" y="932688"/>
            <a:ext cx="1536192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49040" y="969264"/>
            <a:ext cx="144475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49040" y="1289304"/>
            <a:ext cx="14447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10m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257800" y="1271016"/>
            <a:ext cx="164592" cy="0"/>
          </a:xfrm>
          <a:prstGeom prst="line">
            <a:avLst/>
          </a:prstGeom>
          <a:noFill/>
          <a:ln w="15240">
            <a:solidFill>
              <a:srgbClr val="4A5568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5440680" y="932688"/>
            <a:ext cx="1536192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0" y="969264"/>
            <a:ext cx="144475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1289304"/>
            <a:ext cx="14447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ET₀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995160" y="1271016"/>
            <a:ext cx="164592" cy="0"/>
          </a:xfrm>
          <a:prstGeom prst="line">
            <a:avLst/>
          </a:prstGeom>
          <a:noFill/>
          <a:ln w="15240">
            <a:solidFill>
              <a:srgbClr val="4A5568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7178040" y="932688"/>
            <a:ext cx="1536192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23760" y="969264"/>
            <a:ext cx="144475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CMIP6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DCPP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23760" y="1289304"/>
            <a:ext cx="14447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Decadal climate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0" y="1636776"/>
            <a:ext cx="0" cy="301752"/>
          </a:xfrm>
          <a:prstGeom prst="line">
            <a:avLst/>
          </a:prstGeom>
          <a:noFill/>
          <a:ln w="15240">
            <a:solidFill>
              <a:srgbClr val="4A5568"/>
            </a:solidFill>
            <a:prstDash val="solid"/>
            <a:tailEnd type="arrow"/>
          </a:ln>
        </p:spPr>
      </p:sp>
      <p:sp>
        <p:nvSpPr>
          <p:cNvPr id="30" name="Text 28"/>
          <p:cNvSpPr/>
          <p:nvPr/>
        </p:nvSpPr>
        <p:spPr>
          <a:xfrm>
            <a:off x="4617720" y="17190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into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82880" y="1938528"/>
            <a:ext cx="8778240" cy="274320"/>
          </a:xfrm>
          <a:prstGeom prst="rect">
            <a:avLst/>
          </a:prstGeom>
          <a:solidFill>
            <a:srgbClr val="E3F2FD"/>
          </a:solidFill>
          <a:ln w="7620">
            <a:solidFill>
              <a:srgbClr val="90CA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19385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AI FORECASTING ENGINE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286000"/>
            <a:ext cx="25603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0040" y="2322576"/>
            <a:ext cx="246888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" y="2656881"/>
            <a:ext cx="2468880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Soil moisture + NDVI +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deficit + Tmax + Land use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HIGH / MEDIUM / LOW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852928" y="2642616"/>
            <a:ext cx="548640" cy="0"/>
          </a:xfrm>
          <a:prstGeom prst="line">
            <a:avLst/>
          </a:prstGeom>
          <a:noFill/>
          <a:ln w="15240">
            <a:solidFill>
              <a:srgbClr val="4A5568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3401568" y="2286000"/>
            <a:ext cx="25603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447288" y="2322576"/>
            <a:ext cx="246888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Time-Series Model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47288" y="2656881"/>
            <a:ext cx="2468880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30yr IMD + Temp anomalies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NDVI trends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Probability 2025–2040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980176" y="2642616"/>
            <a:ext cx="530352" cy="0"/>
          </a:xfrm>
          <a:prstGeom prst="line">
            <a:avLst/>
          </a:prstGeom>
          <a:noFill/>
          <a:ln w="15240">
            <a:solidFill>
              <a:srgbClr val="4A5568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6510528" y="2286000"/>
            <a:ext cx="2359152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556248" y="2322576"/>
            <a:ext cx="2267712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Correction (EQM)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56248" y="2656881"/>
            <a:ext cx="226771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Quantile Mapping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CMIP6 DCPP hindcasts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regional accuracy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0" y="3017520"/>
            <a:ext cx="0" cy="256032"/>
          </a:xfrm>
          <a:prstGeom prst="line">
            <a:avLst/>
          </a:prstGeom>
          <a:noFill/>
          <a:ln w="15240">
            <a:solidFill>
              <a:srgbClr val="4A5568"/>
            </a:solidFill>
            <a:prstDash val="solid"/>
            <a:tailEnd type="arrow"/>
          </a:ln>
        </p:spPr>
      </p:sp>
      <p:sp>
        <p:nvSpPr>
          <p:cNvPr id="45" name="Text 43"/>
          <p:cNvSpPr/>
          <p:nvPr/>
        </p:nvSpPr>
        <p:spPr>
          <a:xfrm>
            <a:off x="4617720" y="30723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82880" y="3273552"/>
            <a:ext cx="8778240" cy="274320"/>
          </a:xfrm>
          <a:prstGeom prst="rect">
            <a:avLst/>
          </a:prstGeom>
          <a:solidFill>
            <a:srgbClr val="FFF3E0"/>
          </a:solidFill>
          <a:ln w="7620">
            <a:solidFill>
              <a:srgbClr val="FFCC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2735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DISTRICT RISK SCORE OUTPUT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4400" y="3621024"/>
            <a:ext cx="219456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60120" y="3657600"/>
            <a:ext cx="21031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60120" y="3930091"/>
            <a:ext cx="2103120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probability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district/year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566160" y="3621024"/>
            <a:ext cx="219456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611880" y="3657600"/>
            <a:ext cx="21031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11880" y="3930091"/>
            <a:ext cx="2103120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probability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district/year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217920" y="3621024"/>
            <a:ext cx="219456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263640" y="3657600"/>
            <a:ext cx="21031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Wave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63640" y="3930091"/>
            <a:ext cx="2103120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probability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district/year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127248" y="3913632"/>
            <a:ext cx="512064" cy="0"/>
          </a:xfrm>
          <a:prstGeom prst="line">
            <a:avLst/>
          </a:prstGeom>
          <a:noFill/>
          <a:ln w="15240">
            <a:solidFill>
              <a:srgbClr val="4A5568"/>
            </a:solidFill>
            <a:prstDash val="solid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5779008" y="3913632"/>
            <a:ext cx="603504" cy="0"/>
          </a:xfrm>
          <a:prstGeom prst="line">
            <a:avLst/>
          </a:prstGeom>
          <a:noFill/>
          <a:ln w="15240">
            <a:solidFill>
              <a:srgbClr val="4A5568"/>
            </a:solidFill>
            <a:prstDash val="solid"/>
            <a:tailEnd type="arrow"/>
          </a:ln>
        </p:spPr>
      </p:sp>
      <p:sp>
        <p:nvSpPr>
          <p:cNvPr id="59" name="Shape 57"/>
          <p:cNvSpPr/>
          <p:nvPr/>
        </p:nvSpPr>
        <p:spPr>
          <a:xfrm>
            <a:off x="4572000" y="4233672"/>
            <a:ext cx="0" cy="246888"/>
          </a:xfrm>
          <a:prstGeom prst="line">
            <a:avLst/>
          </a:prstGeom>
          <a:noFill/>
          <a:ln w="15240">
            <a:solidFill>
              <a:srgbClr val="4A5568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182880" y="4480560"/>
            <a:ext cx="8778240" cy="274320"/>
          </a:xfrm>
          <a:prstGeom prst="rect">
            <a:avLst/>
          </a:prstGeom>
          <a:solidFill>
            <a:srgbClr val="E8F5E9"/>
          </a:solidFill>
          <a:ln w="7620">
            <a:solidFill>
              <a:srgbClr val="D4E6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4805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DECISION USE CASES → REST API → STAKEHOLDERS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74320" y="4828032"/>
            <a:ext cx="199339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320040" y="48280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Advisory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450592" y="4828032"/>
            <a:ext cx="199339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2496312" y="48280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PMFBY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Trigger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626864" y="4828032"/>
            <a:ext cx="199339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672584" y="48280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Flag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803136" y="4828032"/>
            <a:ext cx="199339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848856" y="48280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Supply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1890</Words>
  <Application>Microsoft Office PowerPoint</Application>
  <PresentationFormat>On-screen Show (16:9)</PresentationFormat>
  <Paragraphs>312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KisanSuraksha — National Climate Stack Innovation Challenge</dc:title>
  <dc:subject>PptxGenJS Presentation</dc:subject>
  <dc:creator>PptxGenJS</dc:creator>
  <cp:lastModifiedBy>pawan ghule</cp:lastModifiedBy>
  <cp:revision>1</cp:revision>
  <dcterms:created xsi:type="dcterms:W3CDTF">2026-03-25T18:22:07Z</dcterms:created>
  <dcterms:modified xsi:type="dcterms:W3CDTF">2026-03-25T18:34:04Z</dcterms:modified>
</cp:coreProperties>
</file>